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7560000" cy="10692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20000" y="2880000"/>
            <a:ext cx="6120000" cy="1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rgbClr val="1A3A6B"/>
                </a:solidFill>
                <a:latin typeface="Arial"/>
              </a:defRPr>
            </a:pPr>
            <a:r>
              <a:t>Global Divergence in Tuberculosis</a:t>
            </a:r>
            <a:br/>
            <a:r>
              <a:t>Incidence Estimates</a:t>
            </a:r>
          </a:p>
          <a:p>
            <a:pPr algn="ctr">
              <a:spcBef>
                <a:spcPts val="1600"/>
              </a:spcBef>
              <a:defRPr sz="1800">
                <a:solidFill>
                  <a:srgbClr val="666666"/>
                </a:solidFill>
                <a:latin typeface="Arial"/>
              </a:defRPr>
            </a:pPr>
            <a:r>
              <a:t>WHO Global TB Report vs. GBD 2021: A Comparative Analysis</a:t>
            </a:r>
          </a:p>
          <a:p>
            <a:pPr algn="ctr">
              <a:spcBef>
                <a:spcPts val="4000"/>
              </a:spcBef>
              <a:defRPr sz="1400">
                <a:solidFill>
                  <a:srgbClr val="999999"/>
                </a:solidFill>
                <a:latin typeface="Arial"/>
              </a:defRPr>
            </a:pPr>
            <a:r>
              <a:t>Figure Set for Military Medical Research (IF 22.9)</a:t>
            </a:r>
          </a:p>
          <a:p>
            <a:pPr algn="ctr">
              <a:spcBef>
                <a:spcPts val="2000"/>
              </a:spcBef>
              <a:defRPr sz="1200">
                <a:solidFill>
                  <a:srgbClr val="AAAAAA"/>
                </a:solidFill>
                <a:latin typeface="Arial"/>
              </a:defRPr>
            </a:pPr>
            <a:r>
              <a:t>217 countries · 211 with valid GBD estimates · Data: WHO 2025, GBD 2021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68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3A6B"/>
                </a:solidFill>
                <a:latin typeface="Arial"/>
              </a:defRPr>
            </a:pPr>
            <a:r>
              <a:t>Figure 1 | Global Divergence in TB Incidence Estimates</a:t>
            </a:r>
          </a:p>
        </p:txBody>
      </p:sp>
      <p:pic>
        <p:nvPicPr>
          <p:cNvPr id="3" name="Picture 2" descr="Fig1_Global_Di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720000"/>
            <a:ext cx="6480000" cy="46838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68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3A6B"/>
                </a:solidFill>
                <a:latin typeface="Arial"/>
              </a:defRPr>
            </a:pPr>
            <a:r>
              <a:t>Figure 2 | Bland-Altman Decomposition &amp; Regional Heterogeneity</a:t>
            </a:r>
          </a:p>
        </p:txBody>
      </p:sp>
      <p:pic>
        <p:nvPicPr>
          <p:cNvPr id="3" name="Picture 2" descr="Fig2_Bland_Altm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720000"/>
            <a:ext cx="7020000" cy="375690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68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3A6B"/>
                </a:solidFill>
                <a:latin typeface="Arial"/>
              </a:defRPr>
            </a:pPr>
            <a:r>
              <a:t>Figure 3 | Regional Heterogeneity in TB Incidence Divergence</a:t>
            </a:r>
          </a:p>
        </p:txBody>
      </p:sp>
      <p:pic>
        <p:nvPicPr>
          <p:cNvPr id="3" name="Picture 2" descr="Fig3_Regional_Fore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000" y="720000"/>
            <a:ext cx="6840000" cy="32234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68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3A6B"/>
                </a:solidFill>
                <a:latin typeface="Arial"/>
              </a:defRPr>
            </a:pPr>
            <a:r>
              <a:t>Figure 4 | Countries with Largest WHO-GBD Divergence</a:t>
            </a:r>
          </a:p>
        </p:txBody>
      </p:sp>
      <p:pic>
        <p:nvPicPr>
          <p:cNvPr id="3" name="Picture 2" descr="Fig4_Top_Coun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00" y="720000"/>
            <a:ext cx="7020000" cy="386304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68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3A6B"/>
                </a:solidFill>
                <a:latin typeface="Arial"/>
              </a:defRPr>
            </a:pPr>
            <a:r>
              <a:t>Figure 5 | Burden-Dependent Divergence Pattern</a:t>
            </a:r>
          </a:p>
        </p:txBody>
      </p:sp>
      <p:pic>
        <p:nvPicPr>
          <p:cNvPr id="3" name="Picture 2" descr="Fig5_Mean_vs_Rati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000" y="720000"/>
            <a:ext cx="6480000" cy="53147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68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3A6B"/>
                </a:solidFill>
                <a:latin typeface="Arial"/>
              </a:defRPr>
            </a:pPr>
            <a:r>
              <a:t>Figure 6 | Summary Dashboard</a:t>
            </a:r>
          </a:p>
        </p:txBody>
      </p:sp>
      <p:pic>
        <p:nvPicPr>
          <p:cNvPr id="3" name="Picture 2" descr="Fig6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0000" y="648000"/>
            <a:ext cx="7200000" cy="568264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68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3A6B"/>
                </a:solidFill>
                <a:latin typeface="Arial"/>
              </a:defRPr>
            </a:pPr>
            <a:r>
              <a:t>Table 1 | Regional Summary Statistics of TB Incidence Divergence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80000" y="720000"/>
          <a:ext cx="7200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0000"/>
                <a:gridCol w="600000"/>
                <a:gridCol w="600000"/>
                <a:gridCol w="600000"/>
                <a:gridCol w="600000"/>
                <a:gridCol w="600000"/>
                <a:gridCol w="600000"/>
                <a:gridCol w="600000"/>
                <a:gridCol w="600000"/>
                <a:gridCol w="600000"/>
                <a:gridCol w="600000"/>
                <a:gridCol w="6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N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WHO Mean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WHO SD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GBD Mean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GBD SD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Ratio Mean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Ratio SD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Diff Mean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Diff Median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WHO&gt;GBD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GBD&gt;WHO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African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172.9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149.6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161.8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159.3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1.4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0.77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11.2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14.7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Americas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78.1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0.66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15.0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Eastern Mediterranean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94.8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89.5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80.8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96.6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2.1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2.4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14.0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14.4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European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60.7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40.8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South-East Asia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116.6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114.1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91.6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105.2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0.98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25.0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18.0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Western Pacific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90.5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73.1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0.69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17.4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68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3A6B"/>
                </a:solidFill>
                <a:latin typeface="Arial"/>
              </a:defRPr>
            </a:pPr>
            <a:r>
              <a:t>Table 2 | Top 30 Countries by WHO-GBD Incidence Divergence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8000" y="720000"/>
          <a:ext cx="7343999" cy="66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142"/>
                <a:gridCol w="1049142"/>
                <a:gridCol w="1049142"/>
                <a:gridCol w="1049142"/>
                <a:gridCol w="1049142"/>
                <a:gridCol w="1049142"/>
                <a:gridCol w="1049147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Country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WHO Inc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GBD Inc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Ratio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Difference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Mean Inc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Thailand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South-East Asia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306.7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143.1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2.1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163.5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224.9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Indonesia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South-East 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455.8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299.8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156.0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377.8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Cambodia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Western Pacific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225.0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83.1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141.9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154.0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Tanzania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African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335.5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207.1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128.4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271.3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Angola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African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278.0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182.0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96.0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230.0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Country_47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Eastern Mediterranean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167.1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74.0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93.2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120.6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Chad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African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433.3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354.7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1.2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78.6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394.0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Kenya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African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194.4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116.6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77.8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155.5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Myanmar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South-East Asia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294.3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226.1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1.3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68.2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260.2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Afghanistan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Eastern Mediterranean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268.2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203.5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64.7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235.8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Country_44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Americas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127.6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71.2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56.4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99.4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Timor-Leste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South-East 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119.4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64.1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55.3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91.7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Nigeria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African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689.1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633.9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1.1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55.2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661.5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Country_57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South-East 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86.5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31.5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54.9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59.0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Syria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Eastern Mediterranean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99.0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46.3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2.1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52.6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72.7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Country_59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African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91.5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40.3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51.2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65.9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Country_79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South-East Asia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108.1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60.0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48.1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84.1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Viet Nam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Western Pacific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304.9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258.2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46.7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281.5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Peru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Americas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96.6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53.5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1.8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43.2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75.0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Rwanda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African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186.3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143.4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43.0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164.9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Netherlands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European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124.4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83.9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1.5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40.5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104.1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Madagascar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African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82.5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43.9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38.6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63.2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Sudan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Eastern Mediterranean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134.5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96.4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1.4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38.1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115.4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Country_26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African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117.9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80.9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37.0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99.4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Tunisia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Eastern Mediterranean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123.7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88.4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1.4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35.3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106.0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Country_68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Western Pacific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116.9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81.8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35.1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99.3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DPR Korea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South-East Asia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126.5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91.6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1.4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34.9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109.0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Somalia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African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49.8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3.3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34.6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32.5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Country_119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Western Pacific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120.4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85.8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1.4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34.5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103.1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602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Country_60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European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144.3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111.3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33.1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127.8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0000" y="108000"/>
            <a:ext cx="68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1A3A6B"/>
                </a:solidFill>
                <a:latin typeface="Arial"/>
              </a:defRPr>
            </a:pPr>
            <a:r>
              <a:t>Table 3 | Bottom 30 Countries (GBD &gt; WHO) by Incidence Divergence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08000" y="720000"/>
          <a:ext cx="7343999" cy="66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142"/>
                <a:gridCol w="1049142"/>
                <a:gridCol w="1049142"/>
                <a:gridCol w="1049142"/>
                <a:gridCol w="1049142"/>
                <a:gridCol w="1049142"/>
                <a:gridCol w="1049147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Country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Region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WHO Inc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GBD Inc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Ratio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Difference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Mean Inc</a:t>
                      </a:r>
                    </a:p>
                  </a:txBody>
                  <a:tcPr>
                    <a:solidFill>
                      <a:srgbClr val="1A3A6B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South Africa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African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447.5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585.6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0.76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-138.2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516.5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Bangladesh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South-East 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407.8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485.1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-77.3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446.5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Guinea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African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314.4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386.7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0.81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-72.2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350.6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DR Congo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African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569.6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638.7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-69.1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604.1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Zambia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African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157.5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225.0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0.70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-67.5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191.3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Belgium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European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116.4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170.3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-53.9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143.4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Country_103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European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76.1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129.2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0.59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-53.1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102.7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Pakistan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Eastern Mediterranean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486.4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539.2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-52.8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512.8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Country_88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Eastern Mediterranean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104.7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143.9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0.73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-39.3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124.3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Country_90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South-East Asia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83.4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119.8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-36.5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101.6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Ethiopia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African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94.3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129.3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0.73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-34.9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111.8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Norway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European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60.6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95.1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-34.5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77.8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Country_19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Americas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59.5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94.0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0.63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-34.5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76.7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Malawi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African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94.0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126.5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-32.5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110.2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Libya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Eastern Mediterranean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81.7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110.4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0.74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-28.7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96.1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Uganda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African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231.5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257.7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-26.2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244.6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Country_21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Western Pacific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52.8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78.9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0.67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-26.1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65.9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Country_52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European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85.9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110.0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-24.1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98.0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Country_12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Americas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97.9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119.8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0.82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-21.9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108.8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Fiji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Western Pacific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95.3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116.2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-20.9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105.7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Country_92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South-East Asia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110.6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130.4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-19.8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120.5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Burundi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African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114.2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133.8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-19.6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124.0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Philippines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Western Pacific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229.3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247.4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0.93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-18.1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238.3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Country_102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Americas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49.8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65.7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-15.9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57.8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Country_51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European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55.4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69.7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0.79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-14.4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62.5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Ghana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African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85.2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98.8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-13.6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92.0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Country_28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Eastern Mediterranean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66.9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79.8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0.84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-12.8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73.4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Niger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African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236.2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245.3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-9.1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240.7</a:t>
                      </a:r>
                    </a:p>
                  </a:txBody>
                  <a:tcPr/>
                </a:tc>
              </a:tr>
              <a:tr h="21599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Country_48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African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92.9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101.8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0.91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-8.9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97.3</a:t>
                      </a:r>
                    </a:p>
                  </a:txBody>
                  <a:tcPr>
                    <a:solidFill>
                      <a:srgbClr val="F0F4F8"/>
                    </a:solidFill>
                  </a:tcPr>
                </a:tc>
              </a:tr>
              <a:tr h="216029"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Australia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Western Pacific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63.7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71.2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0.90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-7.5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00">
                          <a:latin typeface="Arial"/>
                        </a:defRPr>
                      </a:pPr>
                      <a:r>
                        <a:t>67.5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